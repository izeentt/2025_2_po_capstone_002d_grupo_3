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10287000" cx="18288000"/>
  <p:notesSz cx="6858000" cy="9144000"/>
  <p:embeddedFontLst>
    <p:embeddedFont>
      <p:font typeface="Helvetica Neue"/>
      <p:bold r:id="rId7"/>
      <p:boldItalic r:id="rId8"/>
    </p:embeddedFont>
    <p:embeddedFont>
      <p:font typeface="Open Sans"/>
      <p:bold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1" roundtripDataSignature="AMtx7mgeQMxXLM6XsMW9I8STDhWBzAUv7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customschemas.google.com/relationships/presentationmetadata" Target="metadata"/><Relationship Id="rId10" Type="http://schemas.openxmlformats.org/officeDocument/2006/relationships/font" Target="fonts/OpenSa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Open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HelveticaNeue-bold.fntdata"/><Relationship Id="rId8" Type="http://schemas.openxmlformats.org/officeDocument/2006/relationships/font" Target="fonts/HelveticaNeue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3.png"/><Relationship Id="rId10" Type="http://schemas.openxmlformats.org/officeDocument/2006/relationships/image" Target="../media/image1.png"/><Relationship Id="rId13" Type="http://schemas.openxmlformats.org/officeDocument/2006/relationships/image" Target="../media/image4.png"/><Relationship Id="rId1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5.png"/><Relationship Id="rId9" Type="http://schemas.openxmlformats.org/officeDocument/2006/relationships/image" Target="../media/image12.png"/><Relationship Id="rId15" Type="http://schemas.openxmlformats.org/officeDocument/2006/relationships/image" Target="../media/image10.png"/><Relationship Id="rId14" Type="http://schemas.openxmlformats.org/officeDocument/2006/relationships/image" Target="../media/image5.png"/><Relationship Id="rId17" Type="http://schemas.openxmlformats.org/officeDocument/2006/relationships/image" Target="../media/image7.png"/><Relationship Id="rId16" Type="http://schemas.openxmlformats.org/officeDocument/2006/relationships/image" Target="../media/image3.png"/><Relationship Id="rId5" Type="http://schemas.openxmlformats.org/officeDocument/2006/relationships/image" Target="../media/image11.png"/><Relationship Id="rId6" Type="http://schemas.openxmlformats.org/officeDocument/2006/relationships/image" Target="../media/image9.png"/><Relationship Id="rId7" Type="http://schemas.openxmlformats.org/officeDocument/2006/relationships/image" Target="../media/image2.png"/><Relationship Id="rId8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9204" y="5054466"/>
            <a:ext cx="12880697" cy="1658390"/>
          </a:xfrm>
          <a:custGeom>
            <a:rect b="b" l="l" r="r" t="t"/>
            <a:pathLst>
              <a:path extrusionOk="0" h="1658390" w="12880697">
                <a:moveTo>
                  <a:pt x="0" y="0"/>
                </a:moveTo>
                <a:lnTo>
                  <a:pt x="12880697" y="0"/>
                </a:lnTo>
                <a:lnTo>
                  <a:pt x="12880697" y="1658389"/>
                </a:lnTo>
                <a:lnTo>
                  <a:pt x="0" y="16583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830104" y="4357845"/>
            <a:ext cx="2072729" cy="2072729"/>
          </a:xfrm>
          <a:custGeom>
            <a:rect b="b" l="l" r="r" t="t"/>
            <a:pathLst>
              <a:path extrusionOk="0" h="2072729" w="2072729">
                <a:moveTo>
                  <a:pt x="0" y="0"/>
                </a:moveTo>
                <a:lnTo>
                  <a:pt x="2072729" y="0"/>
                </a:lnTo>
                <a:lnTo>
                  <a:pt x="2072729" y="2072729"/>
                </a:lnTo>
                <a:lnTo>
                  <a:pt x="0" y="20727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16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1"/>
          <p:cNvSpPr/>
          <p:nvPr/>
        </p:nvSpPr>
        <p:spPr>
          <a:xfrm>
            <a:off x="2689761" y="5394183"/>
            <a:ext cx="2072781" cy="2072781"/>
          </a:xfrm>
          <a:custGeom>
            <a:rect b="b" l="l" r="r" t="t"/>
            <a:pathLst>
              <a:path extrusionOk="0" h="2072781" w="2072781">
                <a:moveTo>
                  <a:pt x="0" y="0"/>
                </a:moveTo>
                <a:lnTo>
                  <a:pt x="2072782" y="0"/>
                </a:lnTo>
                <a:lnTo>
                  <a:pt x="2072782" y="2072782"/>
                </a:lnTo>
                <a:lnTo>
                  <a:pt x="0" y="20727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16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"/>
          <p:cNvSpPr/>
          <p:nvPr/>
        </p:nvSpPr>
        <p:spPr>
          <a:xfrm>
            <a:off x="6398482" y="5394236"/>
            <a:ext cx="2072781" cy="2072781"/>
          </a:xfrm>
          <a:custGeom>
            <a:rect b="b" l="l" r="r" t="t"/>
            <a:pathLst>
              <a:path extrusionOk="0" h="2072781" w="2072781">
                <a:moveTo>
                  <a:pt x="0" y="0"/>
                </a:moveTo>
                <a:lnTo>
                  <a:pt x="2072782" y="0"/>
                </a:lnTo>
                <a:lnTo>
                  <a:pt x="2072782" y="2072781"/>
                </a:lnTo>
                <a:lnTo>
                  <a:pt x="0" y="20727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16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" name="Google Shape;88;p1"/>
          <p:cNvSpPr/>
          <p:nvPr/>
        </p:nvSpPr>
        <p:spPr>
          <a:xfrm>
            <a:off x="10114696" y="5394236"/>
            <a:ext cx="2072781" cy="2072781"/>
          </a:xfrm>
          <a:custGeom>
            <a:rect b="b" l="l" r="r" t="t"/>
            <a:pathLst>
              <a:path extrusionOk="0" h="2072781" w="2072781">
                <a:moveTo>
                  <a:pt x="0" y="0"/>
                </a:moveTo>
                <a:lnTo>
                  <a:pt x="2072781" y="0"/>
                </a:lnTo>
                <a:lnTo>
                  <a:pt x="2072781" y="2072781"/>
                </a:lnTo>
                <a:lnTo>
                  <a:pt x="0" y="20727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16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" name="Google Shape;89;p1"/>
          <p:cNvSpPr/>
          <p:nvPr/>
        </p:nvSpPr>
        <p:spPr>
          <a:xfrm>
            <a:off x="4538799" y="4357845"/>
            <a:ext cx="2072781" cy="2072781"/>
          </a:xfrm>
          <a:custGeom>
            <a:rect b="b" l="l" r="r" t="t"/>
            <a:pathLst>
              <a:path extrusionOk="0" h="2072781" w="2072781">
                <a:moveTo>
                  <a:pt x="0" y="0"/>
                </a:moveTo>
                <a:lnTo>
                  <a:pt x="2072781" y="0"/>
                </a:lnTo>
                <a:lnTo>
                  <a:pt x="2072781" y="2072782"/>
                </a:lnTo>
                <a:lnTo>
                  <a:pt x="0" y="20727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16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" name="Google Shape;90;p1"/>
          <p:cNvSpPr/>
          <p:nvPr/>
        </p:nvSpPr>
        <p:spPr>
          <a:xfrm>
            <a:off x="8255013" y="4357845"/>
            <a:ext cx="2072781" cy="2072781"/>
          </a:xfrm>
          <a:custGeom>
            <a:rect b="b" l="l" r="r" t="t"/>
            <a:pathLst>
              <a:path extrusionOk="0" h="2072781" w="2072781">
                <a:moveTo>
                  <a:pt x="0" y="0"/>
                </a:moveTo>
                <a:lnTo>
                  <a:pt x="2072781" y="0"/>
                </a:lnTo>
                <a:lnTo>
                  <a:pt x="2072781" y="2072782"/>
                </a:lnTo>
                <a:lnTo>
                  <a:pt x="0" y="20727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16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1" name="Google Shape;91;p1"/>
          <p:cNvGrpSpPr/>
          <p:nvPr/>
        </p:nvGrpSpPr>
        <p:grpSpPr>
          <a:xfrm>
            <a:off x="1267405" y="4795146"/>
            <a:ext cx="1198127" cy="1198127"/>
            <a:chOff x="0" y="0"/>
            <a:chExt cx="812800" cy="812800"/>
          </a:xfrm>
        </p:grpSpPr>
        <p:sp>
          <p:nvSpPr>
            <p:cNvPr id="92" name="Google Shape;92;p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FBD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" name="Google Shape;94;p1"/>
          <p:cNvGrpSpPr/>
          <p:nvPr/>
        </p:nvGrpSpPr>
        <p:grpSpPr>
          <a:xfrm>
            <a:off x="3127088" y="5800588"/>
            <a:ext cx="1198127" cy="1198127"/>
            <a:chOff x="0" y="0"/>
            <a:chExt cx="812800" cy="812800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8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1"/>
          <p:cNvGrpSpPr/>
          <p:nvPr/>
        </p:nvGrpSpPr>
        <p:grpSpPr>
          <a:xfrm>
            <a:off x="4976126" y="4795146"/>
            <a:ext cx="1198127" cy="1198127"/>
            <a:chOff x="0" y="0"/>
            <a:chExt cx="812800" cy="812800"/>
          </a:xfrm>
        </p:grpSpPr>
        <p:sp>
          <p:nvSpPr>
            <p:cNvPr id="98" name="Google Shape;98;p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A9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1"/>
          <p:cNvGrpSpPr/>
          <p:nvPr/>
        </p:nvGrpSpPr>
        <p:grpSpPr>
          <a:xfrm>
            <a:off x="6835809" y="5800588"/>
            <a:ext cx="1198127" cy="1198127"/>
            <a:chOff x="0" y="0"/>
            <a:chExt cx="812800" cy="812800"/>
          </a:xfrm>
        </p:grpSpPr>
        <p:sp>
          <p:nvSpPr>
            <p:cNvPr id="101" name="Google Shape;101;p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260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1"/>
          <p:cNvGrpSpPr/>
          <p:nvPr/>
        </p:nvGrpSpPr>
        <p:grpSpPr>
          <a:xfrm>
            <a:off x="8684847" y="4795146"/>
            <a:ext cx="1198127" cy="1198127"/>
            <a:chOff x="0" y="0"/>
            <a:chExt cx="812800" cy="812800"/>
          </a:xfrm>
        </p:grpSpPr>
        <p:sp>
          <p:nvSpPr>
            <p:cNvPr id="104" name="Google Shape;104;p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91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1"/>
          <p:cNvGrpSpPr/>
          <p:nvPr/>
        </p:nvGrpSpPr>
        <p:grpSpPr>
          <a:xfrm>
            <a:off x="10544530" y="5800588"/>
            <a:ext cx="1198127" cy="1198127"/>
            <a:chOff x="0" y="0"/>
            <a:chExt cx="812800" cy="812800"/>
          </a:xfrm>
        </p:grpSpPr>
        <p:sp>
          <p:nvSpPr>
            <p:cNvPr id="107" name="Google Shape;107;p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F48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9" name="Google Shape;109;p1"/>
          <p:cNvSpPr/>
          <p:nvPr/>
        </p:nvSpPr>
        <p:spPr>
          <a:xfrm>
            <a:off x="1534663" y="5032075"/>
            <a:ext cx="663611" cy="724268"/>
          </a:xfrm>
          <a:custGeom>
            <a:rect b="b" l="l" r="r" t="t"/>
            <a:pathLst>
              <a:path extrusionOk="0" h="724268" w="663611">
                <a:moveTo>
                  <a:pt x="0" y="0"/>
                </a:moveTo>
                <a:lnTo>
                  <a:pt x="663611" y="0"/>
                </a:lnTo>
                <a:lnTo>
                  <a:pt x="663611" y="724269"/>
                </a:lnTo>
                <a:lnTo>
                  <a:pt x="0" y="7242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0" name="Google Shape;110;p1"/>
          <p:cNvSpPr/>
          <p:nvPr/>
        </p:nvSpPr>
        <p:spPr>
          <a:xfrm>
            <a:off x="5285265" y="5075174"/>
            <a:ext cx="579848" cy="638072"/>
          </a:xfrm>
          <a:custGeom>
            <a:rect b="b" l="l" r="r" t="t"/>
            <a:pathLst>
              <a:path extrusionOk="0" h="638072" w="579848">
                <a:moveTo>
                  <a:pt x="0" y="0"/>
                </a:moveTo>
                <a:lnTo>
                  <a:pt x="579848" y="0"/>
                </a:lnTo>
                <a:lnTo>
                  <a:pt x="579848" y="638072"/>
                </a:lnTo>
                <a:lnTo>
                  <a:pt x="0" y="6380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1" name="Google Shape;111;p1"/>
          <p:cNvSpPr/>
          <p:nvPr/>
        </p:nvSpPr>
        <p:spPr>
          <a:xfrm>
            <a:off x="7115837" y="6102948"/>
            <a:ext cx="638072" cy="593407"/>
          </a:xfrm>
          <a:custGeom>
            <a:rect b="b" l="l" r="r" t="t"/>
            <a:pathLst>
              <a:path extrusionOk="0" h="593407" w="638072">
                <a:moveTo>
                  <a:pt x="0" y="0"/>
                </a:moveTo>
                <a:lnTo>
                  <a:pt x="638072" y="0"/>
                </a:lnTo>
                <a:lnTo>
                  <a:pt x="638072" y="593407"/>
                </a:lnTo>
                <a:lnTo>
                  <a:pt x="0" y="5934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2" name="Google Shape;112;p1"/>
          <p:cNvSpPr/>
          <p:nvPr/>
        </p:nvSpPr>
        <p:spPr>
          <a:xfrm>
            <a:off x="8964874" y="5095911"/>
            <a:ext cx="638072" cy="596597"/>
          </a:xfrm>
          <a:custGeom>
            <a:rect b="b" l="l" r="r" t="t"/>
            <a:pathLst>
              <a:path extrusionOk="0" h="596597" w="638072">
                <a:moveTo>
                  <a:pt x="0" y="0"/>
                </a:moveTo>
                <a:lnTo>
                  <a:pt x="638072" y="0"/>
                </a:lnTo>
                <a:lnTo>
                  <a:pt x="638072" y="596597"/>
                </a:lnTo>
                <a:lnTo>
                  <a:pt x="0" y="5965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3" name="Google Shape;113;p1"/>
          <p:cNvSpPr/>
          <p:nvPr/>
        </p:nvSpPr>
        <p:spPr>
          <a:xfrm>
            <a:off x="10853670" y="6080615"/>
            <a:ext cx="579848" cy="638072"/>
          </a:xfrm>
          <a:custGeom>
            <a:rect b="b" l="l" r="r" t="t"/>
            <a:pathLst>
              <a:path extrusionOk="0" h="638072" w="579848">
                <a:moveTo>
                  <a:pt x="0" y="0"/>
                </a:moveTo>
                <a:lnTo>
                  <a:pt x="579848" y="0"/>
                </a:lnTo>
                <a:lnTo>
                  <a:pt x="579848" y="638072"/>
                </a:lnTo>
                <a:lnTo>
                  <a:pt x="0" y="6380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4" name="Google Shape;114;p1"/>
          <p:cNvSpPr/>
          <p:nvPr/>
        </p:nvSpPr>
        <p:spPr>
          <a:xfrm>
            <a:off x="3409784" y="6086447"/>
            <a:ext cx="632736" cy="626408"/>
          </a:xfrm>
          <a:custGeom>
            <a:rect b="b" l="l" r="r" t="t"/>
            <a:pathLst>
              <a:path extrusionOk="0" h="626408" w="632736">
                <a:moveTo>
                  <a:pt x="0" y="0"/>
                </a:moveTo>
                <a:lnTo>
                  <a:pt x="632736" y="0"/>
                </a:lnTo>
                <a:lnTo>
                  <a:pt x="632736" y="626408"/>
                </a:lnTo>
                <a:lnTo>
                  <a:pt x="0" y="6264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5" name="Google Shape;115;p1"/>
          <p:cNvSpPr/>
          <p:nvPr/>
        </p:nvSpPr>
        <p:spPr>
          <a:xfrm>
            <a:off x="311871" y="290040"/>
            <a:ext cx="1340270" cy="1246451"/>
          </a:xfrm>
          <a:custGeom>
            <a:rect b="b" l="l" r="r" t="t"/>
            <a:pathLst>
              <a:path extrusionOk="0" h="1246451" w="1340270">
                <a:moveTo>
                  <a:pt x="0" y="0"/>
                </a:moveTo>
                <a:lnTo>
                  <a:pt x="1340269" y="0"/>
                </a:lnTo>
                <a:lnTo>
                  <a:pt x="1340269" y="1246451"/>
                </a:lnTo>
                <a:lnTo>
                  <a:pt x="0" y="12464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6" name="Google Shape;116;p1"/>
          <p:cNvSpPr/>
          <p:nvPr/>
        </p:nvSpPr>
        <p:spPr>
          <a:xfrm>
            <a:off x="16239346" y="0"/>
            <a:ext cx="2048654" cy="1536491"/>
          </a:xfrm>
          <a:custGeom>
            <a:rect b="b" l="l" r="r" t="t"/>
            <a:pathLst>
              <a:path extrusionOk="0" h="1536491" w="2048654">
                <a:moveTo>
                  <a:pt x="0" y="0"/>
                </a:moveTo>
                <a:lnTo>
                  <a:pt x="2048654" y="0"/>
                </a:lnTo>
                <a:lnTo>
                  <a:pt x="2048654" y="1536491"/>
                </a:lnTo>
                <a:lnTo>
                  <a:pt x="0" y="15364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7" name="Google Shape;117;p1"/>
          <p:cNvSpPr/>
          <p:nvPr/>
        </p:nvSpPr>
        <p:spPr>
          <a:xfrm flipH="1">
            <a:off x="0" y="8538292"/>
            <a:ext cx="2042287" cy="1748708"/>
          </a:xfrm>
          <a:custGeom>
            <a:rect b="b" l="l" r="r" t="t"/>
            <a:pathLst>
              <a:path extrusionOk="0" h="1748708" w="2042287">
                <a:moveTo>
                  <a:pt x="2042287" y="0"/>
                </a:moveTo>
                <a:lnTo>
                  <a:pt x="0" y="0"/>
                </a:lnTo>
                <a:lnTo>
                  <a:pt x="0" y="1748708"/>
                </a:lnTo>
                <a:lnTo>
                  <a:pt x="2042287" y="1748708"/>
                </a:lnTo>
                <a:lnTo>
                  <a:pt x="2042287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8" name="Google Shape;118;p1"/>
          <p:cNvSpPr/>
          <p:nvPr/>
        </p:nvSpPr>
        <p:spPr>
          <a:xfrm flipH="1" rot="10800000">
            <a:off x="1866468" y="6524369"/>
            <a:ext cx="795149" cy="563562"/>
          </a:xfrm>
          <a:custGeom>
            <a:rect b="b" l="l" r="r" t="t"/>
            <a:pathLst>
              <a:path extrusionOk="0" h="563562" w="795149">
                <a:moveTo>
                  <a:pt x="0" y="563563"/>
                </a:moveTo>
                <a:lnTo>
                  <a:pt x="795150" y="563563"/>
                </a:lnTo>
                <a:lnTo>
                  <a:pt x="795150" y="0"/>
                </a:lnTo>
                <a:lnTo>
                  <a:pt x="0" y="0"/>
                </a:lnTo>
                <a:lnTo>
                  <a:pt x="0" y="563563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9" name="Google Shape;119;p1"/>
          <p:cNvSpPr/>
          <p:nvPr/>
        </p:nvSpPr>
        <p:spPr>
          <a:xfrm flipH="1" rot="10800000">
            <a:off x="5575189" y="6524369"/>
            <a:ext cx="795149" cy="563562"/>
          </a:xfrm>
          <a:custGeom>
            <a:rect b="b" l="l" r="r" t="t"/>
            <a:pathLst>
              <a:path extrusionOk="0" h="563562" w="795149">
                <a:moveTo>
                  <a:pt x="0" y="563563"/>
                </a:moveTo>
                <a:lnTo>
                  <a:pt x="795150" y="563563"/>
                </a:lnTo>
                <a:lnTo>
                  <a:pt x="795150" y="0"/>
                </a:lnTo>
                <a:lnTo>
                  <a:pt x="0" y="0"/>
                </a:lnTo>
                <a:lnTo>
                  <a:pt x="0" y="563563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0" name="Google Shape;120;p1"/>
          <p:cNvSpPr/>
          <p:nvPr/>
        </p:nvSpPr>
        <p:spPr>
          <a:xfrm>
            <a:off x="3726152" y="4750294"/>
            <a:ext cx="795149" cy="563562"/>
          </a:xfrm>
          <a:custGeom>
            <a:rect b="b" l="l" r="r" t="t"/>
            <a:pathLst>
              <a:path extrusionOk="0" h="563562" w="795149">
                <a:moveTo>
                  <a:pt x="0" y="0"/>
                </a:moveTo>
                <a:lnTo>
                  <a:pt x="795149" y="0"/>
                </a:lnTo>
                <a:lnTo>
                  <a:pt x="795149" y="563562"/>
                </a:lnTo>
                <a:lnTo>
                  <a:pt x="0" y="5635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1" name="Google Shape;121;p1"/>
          <p:cNvSpPr/>
          <p:nvPr/>
        </p:nvSpPr>
        <p:spPr>
          <a:xfrm>
            <a:off x="7434873" y="4750294"/>
            <a:ext cx="795149" cy="563562"/>
          </a:xfrm>
          <a:custGeom>
            <a:rect b="b" l="l" r="r" t="t"/>
            <a:pathLst>
              <a:path extrusionOk="0" h="563562" w="795149">
                <a:moveTo>
                  <a:pt x="0" y="0"/>
                </a:moveTo>
                <a:lnTo>
                  <a:pt x="795149" y="0"/>
                </a:lnTo>
                <a:lnTo>
                  <a:pt x="795149" y="563562"/>
                </a:lnTo>
                <a:lnTo>
                  <a:pt x="0" y="5635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2" name="Google Shape;122;p1"/>
          <p:cNvSpPr/>
          <p:nvPr/>
        </p:nvSpPr>
        <p:spPr>
          <a:xfrm flipH="1" rot="10800000">
            <a:off x="9264892" y="6524369"/>
            <a:ext cx="795149" cy="563562"/>
          </a:xfrm>
          <a:custGeom>
            <a:rect b="b" l="l" r="r" t="t"/>
            <a:pathLst>
              <a:path extrusionOk="0" h="563562" w="795149">
                <a:moveTo>
                  <a:pt x="0" y="563563"/>
                </a:moveTo>
                <a:lnTo>
                  <a:pt x="795149" y="563563"/>
                </a:lnTo>
                <a:lnTo>
                  <a:pt x="795149" y="0"/>
                </a:lnTo>
                <a:lnTo>
                  <a:pt x="0" y="0"/>
                </a:lnTo>
                <a:lnTo>
                  <a:pt x="0" y="563563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3" name="Google Shape;123;p1"/>
          <p:cNvSpPr txBox="1"/>
          <p:nvPr/>
        </p:nvSpPr>
        <p:spPr>
          <a:xfrm>
            <a:off x="4881020" y="589894"/>
            <a:ext cx="8354764" cy="7791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15185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ROADMAP PROYECTO PEPSICO</a:t>
            </a:r>
            <a:endParaRPr/>
          </a:p>
        </p:txBody>
      </p:sp>
      <p:grpSp>
        <p:nvGrpSpPr>
          <p:cNvPr id="124" name="Google Shape;124;p1"/>
          <p:cNvGrpSpPr/>
          <p:nvPr/>
        </p:nvGrpSpPr>
        <p:grpSpPr>
          <a:xfrm>
            <a:off x="782628" y="2642148"/>
            <a:ext cx="2962831" cy="1387275"/>
            <a:chOff x="0" y="-57150"/>
            <a:chExt cx="3950442" cy="1849701"/>
          </a:xfrm>
        </p:grpSpPr>
        <p:sp>
          <p:nvSpPr>
            <p:cNvPr id="125" name="Google Shape;125;p1"/>
            <p:cNvSpPr txBox="1"/>
            <p:nvPr/>
          </p:nvSpPr>
          <p:spPr>
            <a:xfrm>
              <a:off x="0" y="-57150"/>
              <a:ext cx="3515648" cy="4220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4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33" u="none" cap="none" strike="noStrike">
                  <a:solidFill>
                    <a:srgbClr val="151857"/>
                  </a:solidFill>
                  <a:latin typeface="Arial"/>
                  <a:ea typeface="Arial"/>
                  <a:cs typeface="Arial"/>
                  <a:sym typeface="Arial"/>
                </a:rPr>
                <a:t>Mes 1 (Agosto) – Inicio</a:t>
              </a:r>
              <a:endParaRPr/>
            </a:p>
          </p:txBody>
        </p:sp>
        <p:sp>
          <p:nvSpPr>
            <p:cNvPr id="126" name="Google Shape;126;p1"/>
            <p:cNvSpPr txBox="1"/>
            <p:nvPr/>
          </p:nvSpPr>
          <p:spPr>
            <a:xfrm>
              <a:off x="0" y="656693"/>
              <a:ext cx="3950442" cy="11358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129596" lvl="1" marL="259193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B5B5B"/>
                </a:buClr>
                <a:buSzPts val="1200"/>
                <a:buFont typeface="Arial"/>
                <a:buChar char="•"/>
              </a:pPr>
              <a:r>
                <a:rPr b="0" i="0" lang="en-US" sz="1200" u="none" cap="none" strike="noStrike">
                  <a:solidFill>
                    <a:srgbClr val="5B5B5B"/>
                  </a:solidFill>
                  <a:latin typeface="Arial"/>
                  <a:ea typeface="Arial"/>
                  <a:cs typeface="Arial"/>
                  <a:sym typeface="Arial"/>
                </a:rPr>
                <a:t>Definición de roles Scrum.</a:t>
              </a:r>
              <a:endParaRPr/>
            </a:p>
            <a:p>
              <a:pPr indent="-129596" lvl="1" marL="259193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B5B5B"/>
                </a:buClr>
                <a:buSzPts val="1200"/>
                <a:buFont typeface="Arial"/>
                <a:buChar char="•"/>
              </a:pPr>
              <a:r>
                <a:rPr b="0" i="0" lang="en-US" sz="1200" u="none" cap="none" strike="noStrike">
                  <a:solidFill>
                    <a:srgbClr val="5B5B5B"/>
                  </a:solidFill>
                  <a:latin typeface="Arial"/>
                  <a:ea typeface="Arial"/>
                  <a:cs typeface="Arial"/>
                  <a:sym typeface="Arial"/>
                </a:rPr>
                <a:t>Creación de la visión y alcance inicial.</a:t>
              </a:r>
              <a:endParaRPr/>
            </a:p>
            <a:p>
              <a:pPr indent="-129596" lvl="1" marL="259193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B5B5B"/>
                </a:buClr>
                <a:buSzPts val="1200"/>
                <a:buFont typeface="Arial"/>
                <a:buChar char="•"/>
              </a:pPr>
              <a:r>
                <a:rPr b="0" i="0" lang="en-US" sz="1200" u="none" cap="none" strike="noStrike">
                  <a:solidFill>
                    <a:srgbClr val="5B5B5B"/>
                  </a:solidFill>
                  <a:latin typeface="Arial"/>
                  <a:ea typeface="Arial"/>
                  <a:cs typeface="Arial"/>
                  <a:sym typeface="Arial"/>
                </a:rPr>
                <a:t>Identificación de stakeholders.</a:t>
              </a:r>
              <a:endParaRPr/>
            </a:p>
            <a:p>
              <a:pPr indent="-129596" lvl="1" marL="259193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B5B5B"/>
                </a:buClr>
                <a:buSzPts val="1200"/>
                <a:buFont typeface="Arial"/>
                <a:buChar char="•"/>
              </a:pPr>
              <a:r>
                <a:rPr b="0" i="0" lang="en-US" sz="1200" u="none" cap="none" strike="noStrike">
                  <a:solidFill>
                    <a:srgbClr val="5B5B5B"/>
                  </a:solidFill>
                  <a:latin typeface="Arial"/>
                  <a:ea typeface="Arial"/>
                  <a:cs typeface="Arial"/>
                  <a:sym typeface="Arial"/>
                </a:rPr>
                <a:t>Product Backlog inicial (épicas).</a:t>
              </a:r>
              <a:endParaRPr/>
            </a:p>
          </p:txBody>
        </p:sp>
      </p:grpSp>
      <p:grpSp>
        <p:nvGrpSpPr>
          <p:cNvPr id="127" name="Google Shape;127;p1"/>
          <p:cNvGrpSpPr/>
          <p:nvPr/>
        </p:nvGrpSpPr>
        <p:grpSpPr>
          <a:xfrm>
            <a:off x="2465532" y="7424154"/>
            <a:ext cx="3543062" cy="1502678"/>
            <a:chOff x="0" y="-57150"/>
            <a:chExt cx="4724082" cy="2003570"/>
          </a:xfrm>
        </p:grpSpPr>
        <p:sp>
          <p:nvSpPr>
            <p:cNvPr id="128" name="Google Shape;128;p1"/>
            <p:cNvSpPr txBox="1"/>
            <p:nvPr/>
          </p:nvSpPr>
          <p:spPr>
            <a:xfrm>
              <a:off x="0" y="-57150"/>
              <a:ext cx="4724082" cy="3855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50" u="none" cap="none" strike="noStrike">
                  <a:solidFill>
                    <a:srgbClr val="151857"/>
                  </a:solidFill>
                  <a:latin typeface="Arial"/>
                  <a:ea typeface="Arial"/>
                  <a:cs typeface="Arial"/>
                  <a:sym typeface="Arial"/>
                </a:rPr>
                <a:t>Mes 2 (Septiembre) – Planificación</a:t>
              </a:r>
              <a:endParaRPr/>
            </a:p>
          </p:txBody>
        </p:sp>
        <p:sp>
          <p:nvSpPr>
            <p:cNvPr id="129" name="Google Shape;129;p1"/>
            <p:cNvSpPr txBox="1"/>
            <p:nvPr/>
          </p:nvSpPr>
          <p:spPr>
            <a:xfrm>
              <a:off x="0" y="525957"/>
              <a:ext cx="4724082" cy="14204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129596" lvl="1" marL="259193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B5B5B"/>
                </a:buClr>
                <a:buSzPts val="1200"/>
                <a:buFont typeface="Arial"/>
                <a:buChar char="•"/>
              </a:pPr>
              <a:r>
                <a:rPr b="0" i="0" lang="en-US" sz="1200" u="none" cap="none" strike="noStrike">
                  <a:solidFill>
                    <a:srgbClr val="5B5B5B"/>
                  </a:solidFill>
                  <a:latin typeface="Arial"/>
                  <a:ea typeface="Arial"/>
                  <a:cs typeface="Arial"/>
                  <a:sym typeface="Arial"/>
                </a:rPr>
                <a:t>Historias de usuario + criterios de aceptación.</a:t>
              </a:r>
              <a:endParaRPr/>
            </a:p>
            <a:p>
              <a:pPr indent="-129596" lvl="1" marL="259193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B5B5B"/>
                </a:buClr>
                <a:buSzPts val="1200"/>
                <a:buFont typeface="Arial"/>
                <a:buChar char="•"/>
              </a:pPr>
              <a:r>
                <a:rPr b="0" i="0" lang="en-US" sz="1200" u="none" cap="none" strike="noStrike">
                  <a:solidFill>
                    <a:srgbClr val="5B5B5B"/>
                  </a:solidFill>
                  <a:latin typeface="Arial"/>
                  <a:ea typeface="Arial"/>
                  <a:cs typeface="Arial"/>
                  <a:sym typeface="Arial"/>
                </a:rPr>
                <a:t>Roadmap detallado.</a:t>
              </a:r>
              <a:endParaRPr/>
            </a:p>
            <a:p>
              <a:pPr indent="-129596" lvl="1" marL="259193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B5B5B"/>
                </a:buClr>
                <a:buSzPts val="1200"/>
                <a:buFont typeface="Arial"/>
                <a:buChar char="•"/>
              </a:pPr>
              <a:r>
                <a:rPr b="0" i="0" lang="en-US" sz="1200" u="none" cap="none" strike="noStrike">
                  <a:solidFill>
                    <a:srgbClr val="5B5B5B"/>
                  </a:solidFill>
                  <a:latin typeface="Arial"/>
                  <a:ea typeface="Arial"/>
                  <a:cs typeface="Arial"/>
                  <a:sym typeface="Arial"/>
                </a:rPr>
                <a:t>User Story Mapping e Impact Mapping.</a:t>
              </a:r>
              <a:endParaRPr/>
            </a:p>
            <a:p>
              <a:pPr indent="-129596" lvl="1" marL="259193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B5B5B"/>
                </a:buClr>
                <a:buSzPts val="1200"/>
                <a:buFont typeface="Arial"/>
                <a:buChar char="•"/>
              </a:pPr>
              <a:r>
                <a:rPr b="0" i="0" lang="en-US" sz="1200" u="none" cap="none" strike="noStrike">
                  <a:solidFill>
                    <a:srgbClr val="5B5B5B"/>
                  </a:solidFill>
                  <a:latin typeface="Arial"/>
                  <a:ea typeface="Arial"/>
                  <a:cs typeface="Arial"/>
                  <a:sym typeface="Arial"/>
                </a:rPr>
                <a:t>Matriz de riesgos.</a:t>
              </a:r>
              <a:endParaRPr/>
            </a:p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 cap="none" strike="noStrike">
                <a:solidFill>
                  <a:srgbClr val="5B5B5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0" name="Google Shape;130;p1"/>
          <p:cNvGrpSpPr/>
          <p:nvPr/>
        </p:nvGrpSpPr>
        <p:grpSpPr>
          <a:xfrm>
            <a:off x="5664867" y="2649291"/>
            <a:ext cx="3540012" cy="1465854"/>
            <a:chOff x="0" y="-47625"/>
            <a:chExt cx="4720016" cy="1954473"/>
          </a:xfrm>
        </p:grpSpPr>
        <p:sp>
          <p:nvSpPr>
            <p:cNvPr id="131" name="Google Shape;131;p1"/>
            <p:cNvSpPr txBox="1"/>
            <p:nvPr/>
          </p:nvSpPr>
          <p:spPr>
            <a:xfrm>
              <a:off x="146131" y="-47625"/>
              <a:ext cx="4573885" cy="4298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5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920" u="none" cap="none" strike="noStrike">
                  <a:solidFill>
                    <a:srgbClr val="151857"/>
                  </a:solidFill>
                  <a:latin typeface="Arial"/>
                  <a:ea typeface="Arial"/>
                  <a:cs typeface="Arial"/>
                  <a:sym typeface="Arial"/>
                </a:rPr>
                <a:t>Mes 3 (Octubre) – Desarrollo</a:t>
              </a:r>
              <a:endParaRPr/>
            </a:p>
          </p:txBody>
        </p:sp>
        <p:sp>
          <p:nvSpPr>
            <p:cNvPr id="132" name="Google Shape;132;p1"/>
            <p:cNvSpPr txBox="1"/>
            <p:nvPr/>
          </p:nvSpPr>
          <p:spPr>
            <a:xfrm>
              <a:off x="0" y="486385"/>
              <a:ext cx="4720016" cy="14204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129596" lvl="1" marL="259193" marR="0" rtl="0" algn="just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B5B5B"/>
                </a:buClr>
                <a:buSzPts val="1200"/>
                <a:buFont typeface="Arial"/>
                <a:buChar char="•"/>
              </a:pPr>
              <a:r>
                <a:rPr b="0" i="0" lang="en-US" sz="1200" u="none" cap="none" strike="noStrike">
                  <a:solidFill>
                    <a:srgbClr val="5B5B5B"/>
                  </a:solidFill>
                  <a:latin typeface="Arial"/>
                  <a:ea typeface="Arial"/>
                  <a:cs typeface="Arial"/>
                  <a:sym typeface="Arial"/>
                </a:rPr>
                <a:t>Programación del prototipo avanzado.</a:t>
              </a:r>
              <a:endParaRPr/>
            </a:p>
            <a:p>
              <a:pPr indent="-129596" lvl="1" marL="259193" marR="0" rtl="0" algn="just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B5B5B"/>
                </a:buClr>
                <a:buSzPts val="1200"/>
                <a:buFont typeface="Arial"/>
                <a:buChar char="•"/>
              </a:pPr>
              <a:r>
                <a:rPr b="0" i="0" lang="en-US" sz="1200" u="none" cap="none" strike="noStrike">
                  <a:solidFill>
                    <a:srgbClr val="5B5B5B"/>
                  </a:solidFill>
                  <a:latin typeface="Arial"/>
                  <a:ea typeface="Arial"/>
                  <a:cs typeface="Arial"/>
                  <a:sym typeface="Arial"/>
                </a:rPr>
                <a:t>Implementación de E2 (Perfiles de usuario) y E1 (Registro de vehículos).</a:t>
              </a:r>
              <a:endParaRPr/>
            </a:p>
            <a:p>
              <a:pPr indent="-129596" lvl="1" marL="259193" marR="0" rtl="0" algn="just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B5B5B"/>
                </a:buClr>
                <a:buSzPts val="1200"/>
                <a:buFont typeface="Arial"/>
                <a:buChar char="•"/>
              </a:pPr>
              <a:r>
                <a:rPr b="0" i="0" lang="en-US" sz="1200" u="none" cap="none" strike="noStrike">
                  <a:solidFill>
                    <a:srgbClr val="5B5B5B"/>
                  </a:solidFill>
                  <a:latin typeface="Arial"/>
                  <a:ea typeface="Arial"/>
                  <a:cs typeface="Arial"/>
                  <a:sym typeface="Arial"/>
                </a:rPr>
                <a:t>Diseño de interfaz validado con cliente.</a:t>
              </a:r>
              <a:endParaRPr/>
            </a:p>
            <a:p>
              <a:pPr indent="-129596" lvl="1" marL="259193" marR="0" rtl="0" algn="just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B5B5B"/>
                </a:buClr>
                <a:buSzPts val="1200"/>
                <a:buFont typeface="Arial"/>
                <a:buChar char="•"/>
              </a:pPr>
              <a:r>
                <a:rPr b="0" i="0" lang="en-US" sz="1200" u="none" cap="none" strike="noStrike">
                  <a:solidFill>
                    <a:srgbClr val="5B5B5B"/>
                  </a:solidFill>
                  <a:latin typeface="Arial"/>
                  <a:ea typeface="Arial"/>
                  <a:cs typeface="Arial"/>
                  <a:sym typeface="Arial"/>
                </a:rPr>
                <a:t>Pruebas internas.</a:t>
              </a:r>
              <a:endParaRPr/>
            </a:p>
          </p:txBody>
        </p:sp>
      </p:grpSp>
      <p:sp>
        <p:nvSpPr>
          <p:cNvPr id="133" name="Google Shape;133;p1"/>
          <p:cNvSpPr txBox="1"/>
          <p:nvPr/>
        </p:nvSpPr>
        <p:spPr>
          <a:xfrm>
            <a:off x="8187830" y="7419340"/>
            <a:ext cx="2830233" cy="669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20" u="none" cap="none" strike="noStrike">
                <a:solidFill>
                  <a:srgbClr val="151857"/>
                </a:solidFill>
                <a:latin typeface="Arial"/>
                <a:ea typeface="Arial"/>
                <a:cs typeface="Arial"/>
                <a:sym typeface="Arial"/>
              </a:rPr>
              <a:t>Mes 4 (Noviembre) – Cierre</a:t>
            </a:r>
            <a:endParaRPr/>
          </a:p>
        </p:txBody>
      </p:sp>
      <p:sp>
        <p:nvSpPr>
          <p:cNvPr id="134" name="Google Shape;134;p1"/>
          <p:cNvSpPr txBox="1"/>
          <p:nvPr/>
        </p:nvSpPr>
        <p:spPr>
          <a:xfrm>
            <a:off x="8187830" y="8142408"/>
            <a:ext cx="2830233" cy="1074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29597" lvl="1" marL="259193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5B5B5B"/>
                </a:solidFill>
                <a:latin typeface="Arial"/>
                <a:ea typeface="Arial"/>
                <a:cs typeface="Arial"/>
                <a:sym typeface="Arial"/>
              </a:rPr>
              <a:t>Implementación de E3 (Pausas), E4 (Documentos), E5 (Notificaciones).</a:t>
            </a:r>
            <a:endParaRPr/>
          </a:p>
          <a:p>
            <a:pPr indent="-129597" lvl="1" marL="259193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5B5B5B"/>
                </a:solidFill>
                <a:latin typeface="Arial"/>
                <a:ea typeface="Arial"/>
                <a:cs typeface="Arial"/>
                <a:sym typeface="Arial"/>
              </a:rPr>
              <a:t>Integración completa del prototipo.</a:t>
            </a:r>
            <a:endParaRPr/>
          </a:p>
          <a:p>
            <a:pPr indent="-129597" lvl="1" marL="259193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5B5B5B"/>
                </a:solidFill>
                <a:latin typeface="Arial"/>
                <a:ea typeface="Arial"/>
                <a:cs typeface="Arial"/>
                <a:sym typeface="Arial"/>
              </a:rPr>
              <a:t>Validación con cliente.</a:t>
            </a:r>
            <a:endParaRPr/>
          </a:p>
          <a:p>
            <a:pPr indent="-129597" lvl="1" marL="259193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5B5B5B"/>
                </a:solidFill>
                <a:latin typeface="Arial"/>
                <a:ea typeface="Arial"/>
                <a:cs typeface="Arial"/>
                <a:sym typeface="Arial"/>
              </a:rPr>
              <a:t>Entrega final + presentación.</a:t>
            </a:r>
            <a:endParaRPr/>
          </a:p>
        </p:txBody>
      </p:sp>
      <p:sp>
        <p:nvSpPr>
          <p:cNvPr id="135" name="Google Shape;135;p1"/>
          <p:cNvSpPr txBox="1"/>
          <p:nvPr/>
        </p:nvSpPr>
        <p:spPr>
          <a:xfrm>
            <a:off x="12835177" y="1471962"/>
            <a:ext cx="4419264" cy="1572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9" u="none" cap="none" strike="noStrike">
                <a:solidFill>
                  <a:srgbClr val="226071"/>
                </a:solidFill>
                <a:latin typeface="Open Sans"/>
                <a:ea typeface="Open Sans"/>
                <a:cs typeface="Open Sans"/>
                <a:sym typeface="Open Sans"/>
              </a:rPr>
              <a:t>Mes 1 – Agosto (Inicio y Organización)</a:t>
            </a:r>
            <a:endParaRPr/>
          </a:p>
          <a:p>
            <a:pPr indent="0" lvl="0" marL="0" marR="0" rtl="0" algn="just">
              <a:lnSpc>
                <a:spcPct val="140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9" u="none" cap="none" strike="noStrike">
                <a:solidFill>
                  <a:srgbClr val="226071"/>
                </a:solidFill>
                <a:latin typeface="Open Sans"/>
                <a:ea typeface="Open Sans"/>
                <a:cs typeface="Open Sans"/>
                <a:sym typeface="Open Sans"/>
              </a:rPr>
              <a:t>Duración: 01/08 – 31/08</a:t>
            </a:r>
            <a:endParaRPr/>
          </a:p>
          <a:p>
            <a:pPr indent="-107950" lvl="1" marL="215899" marR="0" rtl="0" algn="just">
              <a:lnSpc>
                <a:spcPct val="140040"/>
              </a:lnSpc>
              <a:spcBef>
                <a:spcPts val="0"/>
              </a:spcBef>
              <a:spcAft>
                <a:spcPts val="0"/>
              </a:spcAft>
              <a:buClr>
                <a:srgbClr val="226071"/>
              </a:buClr>
              <a:buSzPts val="999"/>
              <a:buFont typeface="Arial"/>
              <a:buChar char="•"/>
            </a:pPr>
            <a:r>
              <a:rPr b="0" i="0" lang="en-US" sz="999" u="none" cap="none" strike="noStrike">
                <a:solidFill>
                  <a:srgbClr val="226071"/>
                </a:solidFill>
                <a:latin typeface="Open Sans"/>
                <a:ea typeface="Open Sans"/>
                <a:cs typeface="Open Sans"/>
                <a:sym typeface="Open Sans"/>
              </a:rPr>
              <a:t>01/08 – 07/08 → Definición de roles Scrum (Scrum Master, PO, Dev Team).</a:t>
            </a:r>
            <a:endParaRPr/>
          </a:p>
          <a:p>
            <a:pPr indent="-107950" lvl="1" marL="215899" marR="0" rtl="0" algn="just">
              <a:lnSpc>
                <a:spcPct val="140040"/>
              </a:lnSpc>
              <a:spcBef>
                <a:spcPts val="0"/>
              </a:spcBef>
              <a:spcAft>
                <a:spcPts val="0"/>
              </a:spcAft>
              <a:buClr>
                <a:srgbClr val="226071"/>
              </a:buClr>
              <a:buSzPts val="999"/>
              <a:buFont typeface="Arial"/>
              <a:buChar char="•"/>
            </a:pPr>
            <a:r>
              <a:rPr b="0" i="0" lang="en-US" sz="999" u="none" cap="none" strike="noStrike">
                <a:solidFill>
                  <a:srgbClr val="226071"/>
                </a:solidFill>
                <a:latin typeface="Open Sans"/>
                <a:ea typeface="Open Sans"/>
                <a:cs typeface="Open Sans"/>
                <a:sym typeface="Open Sans"/>
              </a:rPr>
              <a:t>08/08 – 14/08 → Creación de la visión del proyecto y alcance inicial.</a:t>
            </a:r>
            <a:endParaRPr/>
          </a:p>
          <a:p>
            <a:pPr indent="-107950" lvl="1" marL="215899" marR="0" rtl="0" algn="just">
              <a:lnSpc>
                <a:spcPct val="140040"/>
              </a:lnSpc>
              <a:spcBef>
                <a:spcPts val="0"/>
              </a:spcBef>
              <a:spcAft>
                <a:spcPts val="0"/>
              </a:spcAft>
              <a:buClr>
                <a:srgbClr val="226071"/>
              </a:buClr>
              <a:buSzPts val="999"/>
              <a:buFont typeface="Arial"/>
              <a:buChar char="•"/>
            </a:pPr>
            <a:r>
              <a:rPr b="0" i="0" lang="en-US" sz="999" u="none" cap="none" strike="noStrike">
                <a:solidFill>
                  <a:srgbClr val="226071"/>
                </a:solidFill>
                <a:latin typeface="Open Sans"/>
                <a:ea typeface="Open Sans"/>
                <a:cs typeface="Open Sans"/>
                <a:sym typeface="Open Sans"/>
              </a:rPr>
              <a:t>15/08 – 21/08 → Identificación de stakeholders y definición de épicas.</a:t>
            </a:r>
            <a:endParaRPr/>
          </a:p>
          <a:p>
            <a:pPr indent="-107950" lvl="1" marL="215899" marR="0" rtl="0" algn="just">
              <a:lnSpc>
                <a:spcPct val="140040"/>
              </a:lnSpc>
              <a:spcBef>
                <a:spcPts val="0"/>
              </a:spcBef>
              <a:spcAft>
                <a:spcPts val="0"/>
              </a:spcAft>
              <a:buClr>
                <a:srgbClr val="226071"/>
              </a:buClr>
              <a:buSzPts val="999"/>
              <a:buFont typeface="Arial"/>
              <a:buChar char="•"/>
            </a:pPr>
            <a:r>
              <a:rPr b="0" i="0" lang="en-US" sz="999" u="none" cap="none" strike="noStrike">
                <a:solidFill>
                  <a:srgbClr val="226071"/>
                </a:solidFill>
                <a:latin typeface="Open Sans"/>
                <a:ea typeface="Open Sans"/>
                <a:cs typeface="Open Sans"/>
                <a:sym typeface="Open Sans"/>
              </a:rPr>
              <a:t>22/08 – 31/08 → Elaboración del backlog inicial + formación del equipo de trabajo.</a:t>
            </a:r>
            <a:endParaRPr/>
          </a:p>
          <a:p>
            <a:pPr indent="0" lvl="0" marL="0" marR="0" rtl="0" algn="just">
              <a:lnSpc>
                <a:spcPct val="140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99" u="none" cap="none" strike="noStrike">
              <a:solidFill>
                <a:srgbClr val="22607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6" name="Google Shape;136;p1"/>
          <p:cNvSpPr txBox="1"/>
          <p:nvPr/>
        </p:nvSpPr>
        <p:spPr>
          <a:xfrm>
            <a:off x="12835177" y="3101372"/>
            <a:ext cx="4419264" cy="1743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9" u="none" cap="none" strike="noStrike">
                <a:solidFill>
                  <a:srgbClr val="1800AD"/>
                </a:solidFill>
                <a:latin typeface="Open Sans"/>
                <a:ea typeface="Open Sans"/>
                <a:cs typeface="Open Sans"/>
                <a:sym typeface="Open Sans"/>
              </a:rPr>
              <a:t>Mes 2 – Septiembre (Planificación Detallada)</a:t>
            </a:r>
            <a:endParaRPr/>
          </a:p>
          <a:p>
            <a:pPr indent="0" lvl="0" marL="0" marR="0" rtl="0" algn="l">
              <a:lnSpc>
                <a:spcPct val="140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9" u="none" cap="none" strike="noStrike">
                <a:solidFill>
                  <a:srgbClr val="1800AD"/>
                </a:solidFill>
                <a:latin typeface="Open Sans"/>
                <a:ea typeface="Open Sans"/>
                <a:cs typeface="Open Sans"/>
                <a:sym typeface="Open Sans"/>
              </a:rPr>
              <a:t>Duración: 01/09 – 30/09</a:t>
            </a:r>
            <a:endParaRPr/>
          </a:p>
          <a:p>
            <a:pPr indent="-107950" lvl="1" marL="215899" marR="0" rtl="0" algn="l">
              <a:lnSpc>
                <a:spcPct val="140040"/>
              </a:lnSpc>
              <a:spcBef>
                <a:spcPts val="0"/>
              </a:spcBef>
              <a:spcAft>
                <a:spcPts val="0"/>
              </a:spcAft>
              <a:buClr>
                <a:srgbClr val="1800AD"/>
              </a:buClr>
              <a:buSzPts val="999"/>
              <a:buFont typeface="Arial"/>
              <a:buChar char="•"/>
            </a:pPr>
            <a:r>
              <a:rPr b="0" i="0" lang="en-US" sz="999" u="none" cap="none" strike="noStrike">
                <a:solidFill>
                  <a:srgbClr val="1800AD"/>
                </a:solidFill>
                <a:latin typeface="Open Sans"/>
                <a:ea typeface="Open Sans"/>
                <a:cs typeface="Open Sans"/>
                <a:sym typeface="Open Sans"/>
              </a:rPr>
              <a:t>01/09 – 07/09 → Redacción de Historias de Usuario con criterios de aceptación.</a:t>
            </a:r>
            <a:endParaRPr/>
          </a:p>
          <a:p>
            <a:pPr indent="-107950" lvl="1" marL="215899" marR="0" rtl="0" algn="l">
              <a:lnSpc>
                <a:spcPct val="140040"/>
              </a:lnSpc>
              <a:spcBef>
                <a:spcPts val="0"/>
              </a:spcBef>
              <a:spcAft>
                <a:spcPts val="0"/>
              </a:spcAft>
              <a:buClr>
                <a:srgbClr val="1800AD"/>
              </a:buClr>
              <a:buSzPts val="999"/>
              <a:buFont typeface="Arial"/>
              <a:buChar char="•"/>
            </a:pPr>
            <a:r>
              <a:rPr b="0" i="0" lang="en-US" sz="999" u="none" cap="none" strike="noStrike">
                <a:solidFill>
                  <a:srgbClr val="1800AD"/>
                </a:solidFill>
                <a:latin typeface="Open Sans"/>
                <a:ea typeface="Open Sans"/>
                <a:cs typeface="Open Sans"/>
                <a:sym typeface="Open Sans"/>
              </a:rPr>
              <a:t>08/09 – 14/09 → Creación del User Story Mapping (flujo de valor).</a:t>
            </a:r>
            <a:endParaRPr/>
          </a:p>
          <a:p>
            <a:pPr indent="-107950" lvl="1" marL="215899" marR="0" rtl="0" algn="l">
              <a:lnSpc>
                <a:spcPct val="140040"/>
              </a:lnSpc>
              <a:spcBef>
                <a:spcPts val="0"/>
              </a:spcBef>
              <a:spcAft>
                <a:spcPts val="0"/>
              </a:spcAft>
              <a:buClr>
                <a:srgbClr val="1800AD"/>
              </a:buClr>
              <a:buSzPts val="999"/>
              <a:buFont typeface="Arial"/>
              <a:buChar char="•"/>
            </a:pPr>
            <a:r>
              <a:rPr b="0" i="0" lang="en-US" sz="999" u="none" cap="none" strike="noStrike">
                <a:solidFill>
                  <a:srgbClr val="1800AD"/>
                </a:solidFill>
                <a:latin typeface="Open Sans"/>
                <a:ea typeface="Open Sans"/>
                <a:cs typeface="Open Sans"/>
                <a:sym typeface="Open Sans"/>
              </a:rPr>
              <a:t>15/09 – 21/09 → Desarrollo de Impact Mapping (objetivos vs actores).</a:t>
            </a:r>
            <a:endParaRPr/>
          </a:p>
          <a:p>
            <a:pPr indent="-107950" lvl="1" marL="215899" marR="0" rtl="0" algn="l">
              <a:lnSpc>
                <a:spcPct val="140040"/>
              </a:lnSpc>
              <a:spcBef>
                <a:spcPts val="0"/>
              </a:spcBef>
              <a:spcAft>
                <a:spcPts val="0"/>
              </a:spcAft>
              <a:buClr>
                <a:srgbClr val="1800AD"/>
              </a:buClr>
              <a:buSzPts val="999"/>
              <a:buFont typeface="Arial"/>
              <a:buChar char="•"/>
            </a:pPr>
            <a:r>
              <a:rPr b="0" i="0" lang="en-US" sz="999" u="none" cap="none" strike="noStrike">
                <a:solidFill>
                  <a:srgbClr val="1800AD"/>
                </a:solidFill>
                <a:latin typeface="Open Sans"/>
                <a:ea typeface="Open Sans"/>
                <a:cs typeface="Open Sans"/>
                <a:sym typeface="Open Sans"/>
              </a:rPr>
              <a:t>22/09 – 26/09 → Construcción de la matriz de riesgos.</a:t>
            </a:r>
            <a:endParaRPr/>
          </a:p>
          <a:p>
            <a:pPr indent="-107950" lvl="1" marL="215899" marR="0" rtl="0" algn="l">
              <a:lnSpc>
                <a:spcPct val="140040"/>
              </a:lnSpc>
              <a:spcBef>
                <a:spcPts val="0"/>
              </a:spcBef>
              <a:spcAft>
                <a:spcPts val="0"/>
              </a:spcAft>
              <a:buClr>
                <a:srgbClr val="1800AD"/>
              </a:buClr>
              <a:buSzPts val="999"/>
              <a:buFont typeface="Arial"/>
              <a:buChar char="•"/>
            </a:pPr>
            <a:r>
              <a:rPr b="0" i="0" lang="en-US" sz="999" u="none" cap="none" strike="noStrike">
                <a:solidFill>
                  <a:srgbClr val="1800AD"/>
                </a:solidFill>
                <a:latin typeface="Open Sans"/>
                <a:ea typeface="Open Sans"/>
                <a:cs typeface="Open Sans"/>
                <a:sym typeface="Open Sans"/>
              </a:rPr>
              <a:t>27/09 – 30/09 → Elaboración del Roadmap detallado y priorización con planning poker.</a:t>
            </a:r>
            <a:endParaRPr/>
          </a:p>
          <a:p>
            <a:pPr indent="0" lvl="0" marL="0" marR="0" rtl="0" algn="ctr">
              <a:lnSpc>
                <a:spcPct val="1414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99" u="none" cap="none" strike="noStrike">
              <a:solidFill>
                <a:srgbClr val="1800AD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7" name="Google Shape;137;p1"/>
          <p:cNvSpPr txBox="1"/>
          <p:nvPr/>
        </p:nvSpPr>
        <p:spPr>
          <a:xfrm>
            <a:off x="12835177" y="4902109"/>
            <a:ext cx="4822200" cy="20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9" u="none" cap="none" strike="noStrike">
                <a:solidFill>
                  <a:srgbClr val="FF3131"/>
                </a:solidFill>
                <a:latin typeface="Open Sans"/>
                <a:ea typeface="Open Sans"/>
                <a:cs typeface="Open Sans"/>
                <a:sym typeface="Open Sans"/>
              </a:rPr>
              <a:t>Mes 3 – Octubre (Desarrollo y Prototipo Avanzado)</a:t>
            </a:r>
            <a:endParaRPr/>
          </a:p>
          <a:p>
            <a:pPr indent="0" lvl="0" marL="0" marR="0" rtl="0" algn="l">
              <a:lnSpc>
                <a:spcPct val="140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9" u="none" cap="none" strike="noStrike">
                <a:solidFill>
                  <a:srgbClr val="FF3131"/>
                </a:solidFill>
                <a:latin typeface="Open Sans"/>
                <a:ea typeface="Open Sans"/>
                <a:cs typeface="Open Sans"/>
                <a:sym typeface="Open Sans"/>
              </a:rPr>
              <a:t>Duración: 01/10 – 31/10</a:t>
            </a:r>
            <a:endParaRPr/>
          </a:p>
          <a:p>
            <a:pPr indent="-107950" lvl="1" marL="215899" marR="0" rtl="0" algn="l">
              <a:lnSpc>
                <a:spcPct val="140040"/>
              </a:lnSpc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999"/>
              <a:buFont typeface="Arial"/>
              <a:buChar char="•"/>
            </a:pPr>
            <a:r>
              <a:rPr b="0" i="0" lang="en-US" sz="999" u="none" cap="none" strike="noStrike">
                <a:solidFill>
                  <a:srgbClr val="FF3131"/>
                </a:solidFill>
                <a:latin typeface="Open Sans"/>
                <a:ea typeface="Open Sans"/>
                <a:cs typeface="Open Sans"/>
                <a:sym typeface="Open Sans"/>
              </a:rPr>
              <a:t>Sprint 1 (01/10 – 14/10):</a:t>
            </a:r>
            <a:endParaRPr/>
          </a:p>
          <a:p>
            <a:pPr indent="-143932" lvl="2" marL="431798" marR="0" rtl="0" algn="l">
              <a:lnSpc>
                <a:spcPct val="140040"/>
              </a:lnSpc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999"/>
              <a:buFont typeface="Arial"/>
              <a:buChar char="⚬"/>
            </a:pPr>
            <a:r>
              <a:rPr b="0" i="0" lang="en-US" sz="999" u="none" cap="none" strike="noStrike">
                <a:solidFill>
                  <a:srgbClr val="FF3131"/>
                </a:solidFill>
                <a:latin typeface="Open Sans"/>
                <a:ea typeface="Open Sans"/>
                <a:cs typeface="Open Sans"/>
                <a:sym typeface="Open Sans"/>
              </a:rPr>
              <a:t>Implementación de Épica 2.5 (Perfiles de usuario).</a:t>
            </a:r>
            <a:endParaRPr/>
          </a:p>
          <a:p>
            <a:pPr indent="-143932" lvl="2" marL="431798" marR="0" rtl="0" algn="l">
              <a:lnSpc>
                <a:spcPct val="140040"/>
              </a:lnSpc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999"/>
              <a:buFont typeface="Arial"/>
              <a:buChar char="⚬"/>
            </a:pPr>
            <a:r>
              <a:rPr b="0" i="0" lang="en-US" sz="999" u="none" cap="none" strike="noStrike">
                <a:solidFill>
                  <a:srgbClr val="FF3131"/>
                </a:solidFill>
                <a:latin typeface="Open Sans"/>
                <a:ea typeface="Open Sans"/>
                <a:cs typeface="Open Sans"/>
                <a:sym typeface="Open Sans"/>
              </a:rPr>
              <a:t>Prototipo inicial de login, permisos y gestión de perfiles.</a:t>
            </a:r>
            <a:endParaRPr/>
          </a:p>
          <a:p>
            <a:pPr indent="-107950" lvl="1" marL="215899" marR="0" rtl="0" algn="l">
              <a:lnSpc>
                <a:spcPct val="140040"/>
              </a:lnSpc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999"/>
              <a:buFont typeface="Arial"/>
              <a:buChar char="•"/>
            </a:pPr>
            <a:r>
              <a:rPr b="0" i="0" lang="en-US" sz="999" u="none" cap="none" strike="noStrike">
                <a:solidFill>
                  <a:srgbClr val="FF3131"/>
                </a:solidFill>
                <a:latin typeface="Open Sans"/>
                <a:ea typeface="Open Sans"/>
                <a:cs typeface="Open Sans"/>
                <a:sym typeface="Open Sans"/>
              </a:rPr>
              <a:t>Sprint 2 (15/10 – 28/10):</a:t>
            </a:r>
            <a:endParaRPr/>
          </a:p>
          <a:p>
            <a:pPr indent="-143932" lvl="2" marL="431798" marR="0" rtl="0" algn="l">
              <a:lnSpc>
                <a:spcPct val="140040"/>
              </a:lnSpc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999"/>
              <a:buFont typeface="Arial"/>
              <a:buChar char="⚬"/>
            </a:pPr>
            <a:r>
              <a:rPr b="0" i="0" lang="en-US" sz="999" u="none" cap="none" strike="noStrike">
                <a:solidFill>
                  <a:srgbClr val="FF3131"/>
                </a:solidFill>
                <a:latin typeface="Open Sans"/>
                <a:ea typeface="Open Sans"/>
                <a:cs typeface="Open Sans"/>
                <a:sym typeface="Open Sans"/>
              </a:rPr>
              <a:t>Implementación de Épica 1.1 (Registro de ingreso de vehículos).</a:t>
            </a:r>
            <a:endParaRPr/>
          </a:p>
          <a:p>
            <a:pPr indent="-143932" lvl="2" marL="431798" marR="0" rtl="0" algn="l">
              <a:lnSpc>
                <a:spcPct val="140040"/>
              </a:lnSpc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999"/>
              <a:buFont typeface="Arial"/>
              <a:buChar char="⚬"/>
            </a:pPr>
            <a:r>
              <a:rPr b="0" i="0" lang="en-US" sz="999" u="none" cap="none" strike="noStrike">
                <a:solidFill>
                  <a:srgbClr val="FF3131"/>
                </a:solidFill>
                <a:latin typeface="Open Sans"/>
                <a:ea typeface="Open Sans"/>
                <a:cs typeface="Open Sans"/>
                <a:sym typeface="Open Sans"/>
              </a:rPr>
              <a:t>Funcionalidad de registro de patente, OT y asignación de mecánicos.</a:t>
            </a:r>
            <a:endParaRPr/>
          </a:p>
          <a:p>
            <a:pPr indent="-107950" lvl="1" marL="215899" marR="0" rtl="0" algn="l">
              <a:lnSpc>
                <a:spcPct val="140040"/>
              </a:lnSpc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999"/>
              <a:buFont typeface="Arial"/>
              <a:buChar char="•"/>
            </a:pPr>
            <a:r>
              <a:rPr b="0" i="0" lang="en-US" sz="999" u="none" cap="none" strike="noStrike">
                <a:solidFill>
                  <a:srgbClr val="FF3131"/>
                </a:solidFill>
                <a:latin typeface="Open Sans"/>
                <a:ea typeface="Open Sans"/>
                <a:cs typeface="Open Sans"/>
                <a:sym typeface="Open Sans"/>
              </a:rPr>
              <a:t>29/10 – 31/10:</a:t>
            </a:r>
            <a:endParaRPr/>
          </a:p>
          <a:p>
            <a:pPr indent="-143932" lvl="2" marL="431798" marR="0" rtl="0" algn="l">
              <a:lnSpc>
                <a:spcPct val="140040"/>
              </a:lnSpc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999"/>
              <a:buFont typeface="Arial"/>
              <a:buChar char="⚬"/>
            </a:pPr>
            <a:r>
              <a:rPr b="0" i="0" lang="en-US" sz="999" u="none" cap="none" strike="noStrike">
                <a:solidFill>
                  <a:srgbClr val="FF3131"/>
                </a:solidFill>
                <a:latin typeface="Open Sans"/>
                <a:ea typeface="Open Sans"/>
                <a:cs typeface="Open Sans"/>
                <a:sym typeface="Open Sans"/>
              </a:rPr>
              <a:t>Revisión de avances con feedback del cliente.</a:t>
            </a:r>
            <a:endParaRPr/>
          </a:p>
          <a:p>
            <a:pPr indent="-143932" lvl="2" marL="431798" marR="0" rtl="0" algn="l">
              <a:lnSpc>
                <a:spcPct val="140040"/>
              </a:lnSpc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999"/>
              <a:buFont typeface="Arial"/>
              <a:buChar char="⚬"/>
            </a:pPr>
            <a:r>
              <a:rPr b="0" i="0" lang="en-US" sz="999" u="none" cap="none" strike="noStrike">
                <a:solidFill>
                  <a:srgbClr val="FF3131"/>
                </a:solidFill>
                <a:latin typeface="Open Sans"/>
                <a:ea typeface="Open Sans"/>
                <a:cs typeface="Open Sans"/>
                <a:sym typeface="Open Sans"/>
              </a:rPr>
              <a:t>Ajustes y mejoras en diseño de interfaz.</a:t>
            </a:r>
            <a:endParaRPr/>
          </a:p>
          <a:p>
            <a:pPr indent="0" lvl="0" marL="0" marR="0" rtl="0" algn="ctr">
              <a:lnSpc>
                <a:spcPct val="140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99" u="none" cap="none" strike="noStrike">
              <a:solidFill>
                <a:srgbClr val="FF313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8" name="Google Shape;138;p1"/>
          <p:cNvSpPr txBox="1"/>
          <p:nvPr/>
        </p:nvSpPr>
        <p:spPr>
          <a:xfrm>
            <a:off x="12835177" y="7045869"/>
            <a:ext cx="4822276" cy="2086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9" u="none" cap="none" strike="noStrike">
                <a:solidFill>
                  <a:srgbClr val="0D691F"/>
                </a:solidFill>
                <a:latin typeface="Open Sans"/>
                <a:ea typeface="Open Sans"/>
                <a:cs typeface="Open Sans"/>
                <a:sym typeface="Open Sans"/>
              </a:rPr>
              <a:t>Mes 4 – Noviembre (Cierre y Entrega Final)</a:t>
            </a:r>
            <a:endParaRPr/>
          </a:p>
          <a:p>
            <a:pPr indent="0" lvl="0" marL="0" marR="0" rtl="0" algn="l">
              <a:lnSpc>
                <a:spcPct val="140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9" u="none" cap="none" strike="noStrike">
                <a:solidFill>
                  <a:srgbClr val="0D691F"/>
                </a:solidFill>
                <a:latin typeface="Open Sans"/>
                <a:ea typeface="Open Sans"/>
                <a:cs typeface="Open Sans"/>
                <a:sym typeface="Open Sans"/>
              </a:rPr>
              <a:t>Duración: 01/11 – 30/11</a:t>
            </a:r>
            <a:endParaRPr/>
          </a:p>
          <a:p>
            <a:pPr indent="-107950" lvl="1" marL="215899" marR="0" rtl="0" algn="l">
              <a:lnSpc>
                <a:spcPct val="140040"/>
              </a:lnSpc>
              <a:spcBef>
                <a:spcPts val="0"/>
              </a:spcBef>
              <a:spcAft>
                <a:spcPts val="0"/>
              </a:spcAft>
              <a:buClr>
                <a:srgbClr val="0D691F"/>
              </a:buClr>
              <a:buSzPts val="999"/>
              <a:buFont typeface="Arial"/>
              <a:buChar char="•"/>
            </a:pPr>
            <a:r>
              <a:rPr b="0" i="0" lang="en-US" sz="999" u="none" cap="none" strike="noStrike">
                <a:solidFill>
                  <a:srgbClr val="0D691F"/>
                </a:solidFill>
                <a:latin typeface="Open Sans"/>
                <a:ea typeface="Open Sans"/>
                <a:cs typeface="Open Sans"/>
                <a:sym typeface="Open Sans"/>
              </a:rPr>
              <a:t>Sprint 3 (01/11 – 14/11):</a:t>
            </a:r>
            <a:endParaRPr/>
          </a:p>
          <a:p>
            <a:pPr indent="-143932" lvl="2" marL="431798" marR="0" rtl="0" algn="l">
              <a:lnSpc>
                <a:spcPct val="140040"/>
              </a:lnSpc>
              <a:spcBef>
                <a:spcPts val="0"/>
              </a:spcBef>
              <a:spcAft>
                <a:spcPts val="0"/>
              </a:spcAft>
              <a:buClr>
                <a:srgbClr val="0D691F"/>
              </a:buClr>
              <a:buSzPts val="999"/>
              <a:buFont typeface="Arial"/>
              <a:buChar char="⚬"/>
            </a:pPr>
            <a:r>
              <a:rPr b="0" i="0" lang="en-US" sz="999" u="none" cap="none" strike="noStrike">
                <a:solidFill>
                  <a:srgbClr val="0D691F"/>
                </a:solidFill>
                <a:latin typeface="Open Sans"/>
                <a:ea typeface="Open Sans"/>
                <a:cs typeface="Open Sans"/>
                <a:sym typeface="Open Sans"/>
              </a:rPr>
              <a:t>Implementación de Épica 3.3 (Gestión de pausas).</a:t>
            </a:r>
            <a:endParaRPr/>
          </a:p>
          <a:p>
            <a:pPr indent="-143932" lvl="2" marL="431798" marR="0" rtl="0" algn="l">
              <a:lnSpc>
                <a:spcPct val="140040"/>
              </a:lnSpc>
              <a:spcBef>
                <a:spcPts val="0"/>
              </a:spcBef>
              <a:spcAft>
                <a:spcPts val="0"/>
              </a:spcAft>
              <a:buClr>
                <a:srgbClr val="0D691F"/>
              </a:buClr>
              <a:buSzPts val="999"/>
              <a:buFont typeface="Arial"/>
              <a:buChar char="⚬"/>
            </a:pPr>
            <a:r>
              <a:rPr b="0" i="0" lang="en-US" sz="999" u="none" cap="none" strike="noStrike">
                <a:solidFill>
                  <a:srgbClr val="0D691F"/>
                </a:solidFill>
                <a:latin typeface="Open Sans"/>
                <a:ea typeface="Open Sans"/>
                <a:cs typeface="Open Sans"/>
                <a:sym typeface="Open Sans"/>
              </a:rPr>
              <a:t>Implementación de Épica 4.4 (Subida de documentos, fotos e informes).</a:t>
            </a:r>
            <a:endParaRPr/>
          </a:p>
          <a:p>
            <a:pPr indent="-107950" lvl="1" marL="215899" marR="0" rtl="0" algn="l">
              <a:lnSpc>
                <a:spcPct val="140040"/>
              </a:lnSpc>
              <a:spcBef>
                <a:spcPts val="0"/>
              </a:spcBef>
              <a:spcAft>
                <a:spcPts val="0"/>
              </a:spcAft>
              <a:buClr>
                <a:srgbClr val="0D691F"/>
              </a:buClr>
              <a:buSzPts val="999"/>
              <a:buFont typeface="Arial"/>
              <a:buChar char="•"/>
            </a:pPr>
            <a:r>
              <a:rPr b="0" i="0" lang="en-US" sz="999" u="none" cap="none" strike="noStrike">
                <a:solidFill>
                  <a:srgbClr val="0D691F"/>
                </a:solidFill>
                <a:latin typeface="Open Sans"/>
                <a:ea typeface="Open Sans"/>
                <a:cs typeface="Open Sans"/>
                <a:sym typeface="Open Sans"/>
              </a:rPr>
              <a:t>Sprint 4 (15/11 – 28/11):</a:t>
            </a:r>
            <a:endParaRPr/>
          </a:p>
          <a:p>
            <a:pPr indent="-143932" lvl="2" marL="431798" marR="0" rtl="0" algn="l">
              <a:lnSpc>
                <a:spcPct val="140040"/>
              </a:lnSpc>
              <a:spcBef>
                <a:spcPts val="0"/>
              </a:spcBef>
              <a:spcAft>
                <a:spcPts val="0"/>
              </a:spcAft>
              <a:buClr>
                <a:srgbClr val="0D691F"/>
              </a:buClr>
              <a:buSzPts val="999"/>
              <a:buFont typeface="Arial"/>
              <a:buChar char="⚬"/>
            </a:pPr>
            <a:r>
              <a:rPr b="0" i="0" lang="en-US" sz="999" u="none" cap="none" strike="noStrike">
                <a:solidFill>
                  <a:srgbClr val="0D691F"/>
                </a:solidFill>
                <a:latin typeface="Open Sans"/>
                <a:ea typeface="Open Sans"/>
                <a:cs typeface="Open Sans"/>
                <a:sym typeface="Open Sans"/>
              </a:rPr>
              <a:t>Implementación de Épica 5.9 (Notificaciones y reportes automáticos).</a:t>
            </a:r>
            <a:endParaRPr/>
          </a:p>
          <a:p>
            <a:pPr indent="-143932" lvl="2" marL="431798" marR="0" rtl="0" algn="l">
              <a:lnSpc>
                <a:spcPct val="140040"/>
              </a:lnSpc>
              <a:spcBef>
                <a:spcPts val="0"/>
              </a:spcBef>
              <a:spcAft>
                <a:spcPts val="0"/>
              </a:spcAft>
              <a:buClr>
                <a:srgbClr val="0D691F"/>
              </a:buClr>
              <a:buSzPts val="999"/>
              <a:buFont typeface="Arial"/>
              <a:buChar char="⚬"/>
            </a:pPr>
            <a:r>
              <a:rPr b="0" i="0" lang="en-US" sz="999" u="none" cap="none" strike="noStrike">
                <a:solidFill>
                  <a:srgbClr val="0D691F"/>
                </a:solidFill>
                <a:latin typeface="Open Sans"/>
                <a:ea typeface="Open Sans"/>
                <a:cs typeface="Open Sans"/>
                <a:sym typeface="Open Sans"/>
              </a:rPr>
              <a:t>Pruebas integrales del sistema.</a:t>
            </a:r>
            <a:endParaRPr/>
          </a:p>
          <a:p>
            <a:pPr indent="-107950" lvl="1" marL="215899" marR="0" rtl="0" algn="l">
              <a:lnSpc>
                <a:spcPct val="140040"/>
              </a:lnSpc>
              <a:spcBef>
                <a:spcPts val="0"/>
              </a:spcBef>
              <a:spcAft>
                <a:spcPts val="0"/>
              </a:spcAft>
              <a:buClr>
                <a:srgbClr val="0D691F"/>
              </a:buClr>
              <a:buSzPts val="999"/>
              <a:buFont typeface="Arial"/>
              <a:buChar char="•"/>
            </a:pPr>
            <a:r>
              <a:rPr b="0" i="0" lang="en-US" sz="999" u="none" cap="none" strike="noStrike">
                <a:solidFill>
                  <a:srgbClr val="0D691F"/>
                </a:solidFill>
                <a:latin typeface="Open Sans"/>
                <a:ea typeface="Open Sans"/>
                <a:cs typeface="Open Sans"/>
                <a:sym typeface="Open Sans"/>
              </a:rPr>
              <a:t>29/11 – 30/11:</a:t>
            </a:r>
            <a:endParaRPr/>
          </a:p>
          <a:p>
            <a:pPr indent="-143932" lvl="2" marL="431798" marR="0" rtl="0" algn="l">
              <a:lnSpc>
                <a:spcPct val="140040"/>
              </a:lnSpc>
              <a:spcBef>
                <a:spcPts val="0"/>
              </a:spcBef>
              <a:spcAft>
                <a:spcPts val="0"/>
              </a:spcAft>
              <a:buClr>
                <a:srgbClr val="0D691F"/>
              </a:buClr>
              <a:buSzPts val="999"/>
              <a:buFont typeface="Arial"/>
              <a:buChar char="⚬"/>
            </a:pPr>
            <a:r>
              <a:rPr b="0" i="0" lang="en-US" sz="999" u="none" cap="none" strike="noStrike">
                <a:solidFill>
                  <a:srgbClr val="0D691F"/>
                </a:solidFill>
                <a:latin typeface="Open Sans"/>
                <a:ea typeface="Open Sans"/>
                <a:cs typeface="Open Sans"/>
                <a:sym typeface="Open Sans"/>
              </a:rPr>
              <a:t>Preparación de la presentación final.</a:t>
            </a:r>
            <a:endParaRPr/>
          </a:p>
          <a:p>
            <a:pPr indent="-143932" lvl="2" marL="431798" marR="0" rtl="0" algn="l">
              <a:lnSpc>
                <a:spcPct val="140040"/>
              </a:lnSpc>
              <a:spcBef>
                <a:spcPts val="0"/>
              </a:spcBef>
              <a:spcAft>
                <a:spcPts val="0"/>
              </a:spcAft>
              <a:buClr>
                <a:srgbClr val="0D691F"/>
              </a:buClr>
              <a:buSzPts val="999"/>
              <a:buFont typeface="Arial"/>
              <a:buChar char="⚬"/>
            </a:pPr>
            <a:r>
              <a:rPr b="0" i="0" lang="en-US" sz="999" u="none" cap="none" strike="noStrike">
                <a:solidFill>
                  <a:srgbClr val="0D691F"/>
                </a:solidFill>
                <a:latin typeface="Open Sans"/>
                <a:ea typeface="Open Sans"/>
                <a:cs typeface="Open Sans"/>
                <a:sym typeface="Open Sans"/>
              </a:rPr>
              <a:t>Entrega oficial del prototipo funcional.</a:t>
            </a:r>
            <a:endParaRPr/>
          </a:p>
          <a:p>
            <a:pPr indent="0" lvl="0" marL="0" marR="0" rtl="0" algn="ctr">
              <a:lnSpc>
                <a:spcPct val="140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99" u="none" cap="none" strike="noStrike">
              <a:solidFill>
                <a:srgbClr val="0D691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